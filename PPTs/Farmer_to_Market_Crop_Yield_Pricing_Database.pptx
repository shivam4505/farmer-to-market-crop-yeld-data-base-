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30-Day Average Price by Market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modal price (Rs/qtl)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Lasalgaon</c:v>
                </c:pt>
                <c:pt idx="1">
                  <c:v>Nashik APMC</c:v>
                </c:pt>
                <c:pt idx="2">
                  <c:v>Pune Mandi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2340</c:v>
                </c:pt>
                <c:pt idx="1">
                  <c:v>2275</c:v>
                </c:pt>
                <c:pt idx="2">
                  <c:v>2190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A8-4A3F-BF6E-6CC2CD0588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5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2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-2560320" y="420624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ADBMS MINI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Farmer-to-Market Crop Yield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Pricing Database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polyglot ADBMS connecting field, mandi, and weather data to help farmers sell smarter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507492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5943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5960" y="5458968"/>
            <a:ext cx="3017520" cy="914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50749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5943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5458968"/>
            <a:ext cx="3017520" cy="914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507492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5943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635615" y="6083427"/>
            <a:ext cx="16497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Chaudhari E213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Sharma E223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Jain E257 </a:t>
            </a: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records, mandi (market) prices, and weather data today live in disconnected registers, spreadsheets, and paper ledgers.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decide where and when to sell largely on word-of-mouth, without a consolidated view of price trends across nearby markets.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DBMS can unify structured farm/market records with fast-changing, semi-structured weather feeds — and still answer real-time "best market to sell today" queries.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models that system end-to-end: EER design, relational schema, PL/SQL business logic, and a polyglot (RDBMS + NoSQL + distributed) implementation.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0" y="1234440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F6F7F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23444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6600" y="1234440"/>
            <a:ext cx="82296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60920" y="1371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Volatility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76479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prices swing daily; farmers rarely see trends before selling.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86600" y="2862072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F6F7F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862072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2862072"/>
            <a:ext cx="82296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2999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Yield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39242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Sowing, harvest and yield figures are kept per-field, never aggregated.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86600" y="4489704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F6F7F2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4489704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4489704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0920" y="46268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Weather Linkage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502005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Rainfall/temperature history is never connected to yield or price analysis.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52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 farm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7276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farmer, field, and crop details in one normalized schema.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1854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yield lifecycle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0545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sowing, harvest, expected vs. actual yield per field per season.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4553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18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mandi prices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3814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daily min/max/modal price feeds from multiple markets.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7822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50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best market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7083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markets for a crop using recent price trend queries.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01091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weather signals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303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rainfall/temperature history against yield outcomes.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280160"/>
            <a:ext cx="4617720" cy="4480560"/>
          </a:xfrm>
          <a:prstGeom prst="roundRect">
            <a:avLst>
              <a:gd name="adj" fmla="val 1224"/>
            </a:avLst>
          </a:prstGeom>
          <a:solidFill>
            <a:srgbClr val="1E4220"/>
          </a:solidFill>
          <a:ln w="19050">
            <a:solidFill>
              <a:srgbClr val="1E42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1280160"/>
            <a:ext cx="4526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874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 →  Market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Connected.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surface spanning structured records and fast-changing feeds: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6118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field &amp; crop master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records across seasons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Multi-mandi price history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log correlation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(farmer / officer / admin)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3172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286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mandi nodes (fragmented by district)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80160" y="288036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 w="19050">
            <a:solidFill>
              <a:srgbClr val="1E4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28803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RDBMS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(Oracle / PostgreSQL)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98448" y="2194560"/>
            <a:ext cx="1353312" cy="685800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651760" y="2194560"/>
            <a:ext cx="475488" cy="685800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2651760" y="2194560"/>
            <a:ext cx="2304288" cy="685800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1605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Log Store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 — NoSQL, JSON docs)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2103120" y="3657600"/>
            <a:ext cx="54864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22960" y="52578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6F7F2"/>
          </a:solidFill>
          <a:ln w="19050">
            <a:solidFill>
              <a:srgbClr val="5B60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Weather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148840" y="4937760"/>
            <a:ext cx="9144" cy="320040"/>
          </a:xfrm>
          <a:prstGeom prst="line">
            <a:avLst/>
          </a:prstGeom>
          <a:noFill/>
          <a:ln w="15875">
            <a:solidFill>
              <a:srgbClr val="5B605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709160" y="288036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1E4220"/>
          </a:solidFill>
          <a:ln w="19050">
            <a:solidFill>
              <a:srgbClr val="1E4220"/>
            </a:solidFill>
            <a:prstDash val="solid"/>
          </a:ln>
          <a:effectLst>
            <a:outerShdw blurRad="50800" dist="25400" dir="5400000" algn="bl" rotWithShape="0">
              <a:srgbClr val="1B1F16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54880" y="28803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Query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(polyglot API middleware)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69080" y="3246120"/>
            <a:ext cx="640080" cy="137160"/>
          </a:xfrm>
          <a:prstGeom prst="line">
            <a:avLst/>
          </a:prstGeom>
          <a:noFill/>
          <a:ln w="2286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291840" y="3566160"/>
            <a:ext cx="1554480" cy="914400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275320" y="141732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Price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 min / max / modal price)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flipV="1">
            <a:off x="7452360" y="1828800"/>
            <a:ext cx="822960" cy="128016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5146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2514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Transaction Records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 flipV="1">
            <a:off x="7452360" y="2834640"/>
            <a:ext cx="822960" cy="45720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356616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(farmers, market officials, admin)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52360" y="3474720"/>
            <a:ext cx="822960" cy="457200"/>
          </a:xfrm>
          <a:prstGeom prst="line">
            <a:avLst/>
          </a:prstGeom>
          <a:noFill/>
          <a:ln w="22860">
            <a:solidFill>
              <a:srgbClr val="1E42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structured RDBMS flow   ·   Dashed = NoSQL / external feed   ·   Boxes on the left replicate into the central RDBMS nightly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 txBox="1"/>
          <p:nvPr/>
        </p:nvSpPr>
        <p:spPr>
          <a:xfrm>
            <a:off x="45720" y="1673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EABBFF-711B-4807-BBDF-74DDE8E6B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" y="0"/>
            <a:ext cx="120734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Relational Schema — Core Tables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533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FARMER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15453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farmer_id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" y="17922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name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66928" y="203911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phone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66928" y="228600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village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6928" y="25328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district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" y="277977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land_area_acres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606040" cy="1618488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88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3533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401568" y="15453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field_id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401568" y="17922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farmer_id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401568" y="203911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location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401568" y="228600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soil_type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401568" y="25328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area_acres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88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3533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236208" y="15453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236208" y="17922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crop_name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236208" y="203911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category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236208" y="228600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season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61120" y="11887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61120" y="1188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0" y="13533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52560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070848" y="15453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market_id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070848" y="17922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market_name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070848" y="203911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district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070848" y="228600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state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91840" y="3246120"/>
            <a:ext cx="260604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32461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41" name="Shape 39"/>
          <p:cNvSpPr/>
          <p:nvPr/>
        </p:nvSpPr>
        <p:spPr>
          <a:xfrm>
            <a:off x="3291840" y="34107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383280" y="3246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CEREAL_CROP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3401568" y="36027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PK,FK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3401568" y="38496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avg_duration_days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26480" y="3246120"/>
            <a:ext cx="260604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2461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34107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217920" y="3246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VEGETABLE_CROP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6236208" y="36027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PK,FK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6236208" y="38496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perishability_days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961120" y="3246120"/>
            <a:ext cx="260604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961120" y="32461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53" name="Shape 51"/>
          <p:cNvSpPr/>
          <p:nvPr/>
        </p:nvSpPr>
        <p:spPr>
          <a:xfrm>
            <a:off x="8961120" y="34107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052560" y="3246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FRUIT_CROP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070848" y="36027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PK,FK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9070848" y="38496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harvest_cycle_years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57200" y="3246120"/>
            <a:ext cx="2606040" cy="2112264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" y="32461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59" name="Shape 57"/>
          <p:cNvSpPr/>
          <p:nvPr/>
        </p:nvSpPr>
        <p:spPr>
          <a:xfrm>
            <a:off x="457200" y="3410712"/>
            <a:ext cx="26060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" y="3246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YIELD_RECORD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566928" y="360273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yield_id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566928" y="38496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field_id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566928" y="409651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566928" y="434340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sowing_date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566928" y="45902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harvest_date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566928" y="483717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expected_yield_qtl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566928" y="508406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actual_yield_qtl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45720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0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= primary key   ·   FK = foreign key   ·   Cereal / Vegetable / Fruit tables implement the CROP specialization (1:1 with CROP)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Farmer-to-Market Crop Yield &amp; Pricing Database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Relational Schema — Market &amp; Transaction Tables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2112264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53312"/>
            <a:ext cx="32918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PRICE_RECORD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154533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price_id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" y="1792224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market_id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66928" y="203911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66928" y="228600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price_date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6928" y="253288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min_price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" y="277977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max_price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66928" y="3026664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modal_price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0" y="1188720"/>
            <a:ext cx="3566160" cy="2112264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188720"/>
            <a:ext cx="356616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1353312"/>
            <a:ext cx="356616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1188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SALE_TRANSACTION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24528" y="154533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sale_id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224528" y="1792224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farmer_id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224528" y="203911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market_id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224528" y="228600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224528" y="2532888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quantity_qtl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224528" y="277977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sale_date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224528" y="3026664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price_per_qtl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6720" y="1188720"/>
            <a:ext cx="3520440" cy="1618488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9525">
            <a:solidFill>
              <a:srgbClr val="9AA394"/>
            </a:solidFill>
            <a:prstDash val="solid"/>
          </a:ln>
          <a:effectLst>
            <a:outerShdw blurRad="38100" dist="12700" dir="5400000" algn="bl" rotWithShape="0">
              <a:srgbClr val="1B1F1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1188720"/>
            <a:ext cx="352044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0" y="1353312"/>
            <a:ext cx="352044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11887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PRICE_ALERT  (trigger-generated)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156448" y="1545336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22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PK  alert_id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156448" y="1792224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crop_id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156448" y="2039112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FK  market_id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156448" y="22860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alert_date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156448" y="2532888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1F1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deviation_pct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502920" y="42976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6858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2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WEATHER_LOG  —  stored outside the RDBMS (MongoDB document)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{ "district": "Nashik", "log_date": "2026-09-10",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"temperature_c": 29.4, "rainfall_mm": 12.5,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5B605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"humidity_pct": 68 }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09360" y="42976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E4220"/>
          </a:solidFill>
          <a:ln w="19050">
            <a:solidFill>
              <a:srgbClr val="1E422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429768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53796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keep tables normalized to 3NF?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537960" y="47731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repeating price/yield groups inside FARMER or CROP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non-key attribute depends only on its table's key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Farmer-to-Market Crop Yield &amp; Pricing Database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Constructs — Triggers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Validate harvest date on entry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583680" cy="1920240"/>
          </a:xfrm>
          <a:prstGeom prst="roundRect">
            <a:avLst>
              <a:gd name="adj" fmla="val 2857"/>
            </a:avLst>
          </a:prstGeom>
          <a:solidFill>
            <a:srgbClr val="1B1F16"/>
          </a:solidFill>
          <a:ln w="19050">
            <a:solidFill>
              <a:srgbClr val="1B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trg_validate_harvest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OR UPDATE ON YIELD_RECORD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:NEW.harvest_date &lt;= :NEW.sowing_date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RAISE_APPLICATION_ERROR(-20001,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'Harvest date must be after sowing date');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60020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BEFORE trigger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impossible date entries before they reach storage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YIELD_RECORD trustworthy for later trend queries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Flag sudden price swings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6583680" cy="2103120"/>
          </a:xfrm>
          <a:prstGeom prst="roundRect">
            <a:avLst>
              <a:gd name="adj" fmla="val 2609"/>
            </a:avLst>
          </a:prstGeom>
          <a:solidFill>
            <a:srgbClr val="1B1F16"/>
          </a:solidFill>
          <a:ln w="19050">
            <a:solidFill>
              <a:srgbClr val="1B1F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6908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05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trg_price_alert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PRICE_RECORD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v_avg NUMBER;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AVG(modal_price) INTO v_avg FROM PRICE_RECORD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crop_id = :NEW.crop_id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price_date &gt;= :NEW.price_date - 7;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ABS(:NEW.modal_price - v_avg) &gt; 0.2 * v_avg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PRICE_ALERT(crop_id, market_id, alert_date, deviation_pct)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(:NEW.crop_id, :NEW.market_id, :NEW.price_date,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ROUND((:NEW.modal_price - v_avg) / v_avg * 100, 2));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11480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trigger with an embedded query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price to the 7-day rolling average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deviation auto-logs a PRICE_ALERT row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"best time to sell" recommendation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Constructs — Procedures &amp; Functions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 — best market for a crop (cursor loop)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766560" cy="2331720"/>
          </a:xfrm>
          <a:prstGeom prst="roundRect">
            <a:avLst>
              <a:gd name="adj" fmla="val 2353"/>
            </a:avLst>
          </a:prstGeom>
          <a:solidFill>
            <a:srgbClr val="1B1F16"/>
          </a:solidFill>
          <a:ln w="19050">
            <a:solidFill>
              <a:srgbClr val="1B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675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6400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PROCEDURE proc_best_market(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p_crop_id IN NUMBER, p_result OUT VARCHAR2) IS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 c_prices IS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m.market_name, AVG(p.modal_price) avg_price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PRICE_RECORD p JOIN MARKET m ON m.market_id = p.market_id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p.crop_id = p_crop_id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p.price_date &gt;= SYSDATE - 30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m.market_name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AVG(p.modal_price) DESC;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v_top c_prices%ROWTYPE;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c_prices;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 c_prices INTO v_top;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p_result := v_top.market_name || ' @ Rs.' || v_top.avg_price;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 c_prices;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— expected revenue for a farmer's crop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4434840"/>
            <a:ext cx="6766560" cy="1737360"/>
          </a:xfrm>
          <a:prstGeom prst="roundRect">
            <a:avLst>
              <a:gd name="adj" fmla="val 3158"/>
            </a:avLst>
          </a:prstGeom>
          <a:solidFill>
            <a:srgbClr val="1B1F16"/>
          </a:solidFill>
          <a:ln w="19050">
            <a:solidFill>
              <a:srgbClr val="1B1F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4348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5262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 fn_expected_revenue(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p_farmer_id NUMBER, p_crop_id NUMBER) RETURN NUMBER IS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v_yield NUMBER; v_price NUMBER;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actual_yield_qtl INTO v_yield FROM YIELD_RECORD y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JOIN FIELD f ON f.field_id = y.field_id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f.farmer_id = p_farmer_id AND y.crop_id = p_crop_id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ROWNUM = 1 ORDER BY harvest_date DESC;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MAX(modal_price) INTO v_price FROM PRICE_RECORD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crop_id = p_crop_id;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v_yield * v_price;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returns an OUT parameter, so the calling app (or a report) receives the ranked result directly.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cursor demonstrates row-by-row processing — a core PL/SQL skill beyond plain SQL.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is reusable inside SELECT statements and dashboard views.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encapsulate business rules inside the database, so every client (web, mobile, SMS gateway) gets consistent answers.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(NO_DATA_FOUND) is added in the full implementation to keep calls safe when a farmer has no records yet.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Polyglot Persistence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DBMS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6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19c /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F6F7F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3520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212848"/>
            <a:ext cx="3227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FIELD, CROP, YIELD_RECORD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PRICE_RECORD, SALE_TRANSACTION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for sales &amp; payments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procedures, functions (Slides 8–9)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234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NoSQL Store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(document store)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574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F6F7F2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2057400"/>
            <a:ext cx="3520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2212848"/>
            <a:ext cx="3227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WEATHER_LOG as flexible JSON docs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API ingestion (per hour)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varies by sensor/region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by district + date range, joined at the app layer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138160" y="123444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234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System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6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mandi nodes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20574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F6F7F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057400"/>
            <a:ext cx="3520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212848"/>
            <a:ext cx="3227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fragmentation of PRICE_RECORD by district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writes at each mandi node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replication to the central RDBMS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node serves state-wide read queries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E4220"/>
          </a:solidFill>
          <a:ln w="19050">
            <a:solidFill>
              <a:srgbClr val="1E42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70916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layer that ties it together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19379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API (e.g. Node.js / Django) accepts one request such as "best market for wheat near Nashik this week", fans it out to the RDBMS (price + yield) and MongoDB (weather), and merges the results before responding.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Query &amp; Dashboard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— top 3 markets for Wheat, last 30 days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1600200"/>
          </a:xfrm>
          <a:prstGeom prst="roundRect">
            <a:avLst>
              <a:gd name="adj" fmla="val 3429"/>
            </a:avLst>
          </a:prstGeom>
          <a:solidFill>
            <a:srgbClr val="1B1F16"/>
          </a:solidFill>
          <a:ln w="19050">
            <a:solidFill>
              <a:srgbClr val="1B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m.market_name,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ROUND(AVG(p.modal_price),2) AS avg_price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PRICE_RECORD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MARKET m ON m.market_id = p.market_id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CROP c   ON c.crop_id = p.crop_id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c.crop_name = 'Wheat'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p.price_date &gt;= SYSDATE - 30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 BY m.market_name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 BY avg_price DESC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FIRST 3 ROWS ONLY;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5577840" cy="384048"/>
          </a:xfrm>
          <a:prstGeom prst="rect">
            <a:avLst/>
          </a:prstGeom>
          <a:solidFill>
            <a:srgbClr val="2C5F2D"/>
          </a:solidFill>
          <a:ln w="6350">
            <a:solidFill>
              <a:srgbClr val="9AA3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337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(Rs/qtl)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2160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3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21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Lasalgaon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7216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5577840" cy="384048"/>
          </a:xfrm>
          <a:prstGeom prst="rect">
            <a:avLst/>
          </a:prstGeom>
          <a:solidFill>
            <a:srgbClr val="F6F7F2"/>
          </a:solidFill>
          <a:ln w="6350">
            <a:solidFill>
              <a:srgbClr val="9AA3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Nashik APMC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1056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9704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AA3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89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Mandi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489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dashboard (conceptual)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554480"/>
            <a:ext cx="53035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9AA3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55448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Market Today: Lasalgaon — Rs. 2,340/qtl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194560"/>
            <a:ext cx="4846320" cy="18288"/>
          </a:xfrm>
          <a:prstGeom prst="rect">
            <a:avLst/>
          </a:prstGeom>
          <a:solidFill>
            <a:srgbClr val="9AA394"/>
          </a:solidFill>
          <a:ln/>
        </p:spPr>
      </p:sp>
      <p:graphicFrame>
        <p:nvGraphicFramePr>
          <p:cNvPr id="25" name="Chart 0"/>
          <p:cNvGraphicFramePr/>
          <p:nvPr/>
        </p:nvGraphicFramePr>
        <p:xfrm>
          <a:off x="6629400" y="2331720"/>
          <a:ext cx="48463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6629400" y="43434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note: Nashik district recorded 12.5mm rainfall yesterday — no yield risk flagged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B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Pune Mandi price dropped 8% from last week (see PRICE_ALERT)</a:t>
            </a:r>
            <a:endParaRPr lang="en-US" sz="103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Farmer-to-Market Crop Yield &amp; Pricing Database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EER model with a weak entity and crop specialization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(3NF) relational schema mapped from that EER design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triggers, a cursor-based procedure, and a reusable function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polyglot architecture: RDBMS + NoSQL + distributed mandi nodes under one query layer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0020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price forecasting layered on historical PRICE_RECORD data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SMS alerts driven directly by PRICE_ALERT triggers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Blockchain-backed sale ledger for tamper-proof transaction history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soil-moisture sensors feeding a new field-level NoSQL stream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2053</Words>
  <Application>Microsoft Office PowerPoint</Application>
  <PresentationFormat>Widescreen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#REF!</cp:lastModifiedBy>
  <cp:revision>5</cp:revision>
  <dcterms:created xsi:type="dcterms:W3CDTF">2026-09-11T04:38:19Z</dcterms:created>
  <dcterms:modified xsi:type="dcterms:W3CDTF">2026-10-10T09:20:25Z</dcterms:modified>
</cp:coreProperties>
</file>